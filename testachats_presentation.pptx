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210312"/>
            <a:ext cx="402336" cy="40233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Calibri"/>
              </a:rPr>
              <a:t>WHAT IS TRULY ESSENTIAL</a:t>
            </a:r>
          </a:p>
          <a:p>
            <a:pPr algn="l"/>
            <a:r>
              <a:rPr sz="2200" b="1" i="0">
                <a:solidFill>
                  <a:srgbClr val="E8003D"/>
                </a:solidFill>
                <a:latin typeface="Calibri"/>
              </a:rPr>
              <a:t>FOR CONSUMERS?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24128"/>
            <a:ext cx="822960" cy="36576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09728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77"/>
                </a:solidFill>
                <a:latin typeface="Calibri"/>
              </a:rPr>
              <a:t>Our value is built on trust, expertise and impact.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463040"/>
            <a:ext cx="2743200" cy="3520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627632"/>
            <a:ext cx="548640" cy="548640"/>
          </a:xfrm>
          <a:prstGeom prst="ellipse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8003D"/>
                </a:solidFill>
                <a:latin typeface="Calibri"/>
              </a:rPr>
              <a:t>⚖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2267712"/>
            <a:ext cx="265176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222222"/>
                </a:solidFill>
                <a:latin typeface="Calibri"/>
              </a:rPr>
              <a:t>TRUST &amp;</a:t>
            </a:r>
          </a:p>
          <a:p>
            <a:pPr algn="ctr"/>
            <a:r>
              <a:rPr sz="850" b="1" i="0">
                <a:solidFill>
                  <a:srgbClr val="222222"/>
                </a:solidFill>
                <a:latin typeface="Calibri"/>
              </a:rPr>
              <a:t>INDEPENDENCE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2523744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926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Independent 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High credibility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3474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Consumer-first 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463040"/>
            <a:ext cx="2743200" cy="3520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06240" y="1627632"/>
            <a:ext cx="548640" cy="548640"/>
          </a:xfrm>
          <a:prstGeom prst="ellipse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07D00"/>
                </a:solidFill>
                <a:latin typeface="Calibri"/>
              </a:rPr>
              <a:t>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79" y="2267712"/>
            <a:ext cx="265176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PRACTICAL CONSUMER</a:t>
            </a:r>
          </a:p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8688" y="2834640"/>
            <a:ext cx="2523744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926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Rights &amp; disputes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200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Financial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474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74903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Major purchases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02335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Contracts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61888" y="1463040"/>
            <a:ext cx="2743200" cy="3520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59168" y="1627632"/>
            <a:ext cx="548640" cy="548640"/>
          </a:xfrm>
          <a:prstGeom prst="ellipse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07D00"/>
                </a:solidFill>
                <a:latin typeface="Calibri"/>
              </a:rPr>
              <a:t>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07607" y="2267712"/>
            <a:ext cx="265176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EXPERTISE &amp;</a:t>
            </a:r>
          </a:p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DECISION SUPPORT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71616" y="2834640"/>
            <a:ext cx="2523744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9048" y="2926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Testing capability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9048" y="3200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Structured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3474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Comparison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8" y="374903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Help consumers make decisions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14816" y="1463040"/>
            <a:ext cx="2743200" cy="3520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12096" y="1627632"/>
            <a:ext cx="548640" cy="548640"/>
          </a:xfrm>
          <a:prstGeom prst="ellipse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07D00"/>
                </a:solidFill>
                <a:latin typeface="Calibri"/>
              </a:rPr>
              <a:t>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0536" y="2267712"/>
            <a:ext cx="265176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SIMPLICITY &amp;</a:t>
            </a:r>
          </a:p>
          <a:p>
            <a:pPr algn="ctr"/>
            <a:r>
              <a:rPr sz="850" b="1" i="0">
                <a:solidFill>
                  <a:srgbClr val="F07D00"/>
                </a:solidFill>
                <a:latin typeface="Calibri"/>
              </a:rPr>
              <a:t>GUIDANCE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2834640"/>
            <a:ext cx="2523744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1976" y="2926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Clear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1976" y="3200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Actionable advice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3474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Save time &amp; money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1976" y="374903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Build confidence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5074920"/>
            <a:ext cx="2103120" cy="1536192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51206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222222"/>
                </a:solidFill>
                <a:latin typeface="Calibri"/>
              </a:rPr>
              <a:t>96%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" y="568756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aided awareness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" y="59618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777777"/>
                </a:solidFill>
                <a:latin typeface="Calibri"/>
              </a:rPr>
              <a:t>(Brand Tracker Q4 2024)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7168" y="507492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07D00"/>
                </a:solidFill>
                <a:latin typeface="Calibri"/>
              </a:rPr>
              <a:t>Top relevance scores: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7168" y="53492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78% fiscal questions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7168" y="55869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76% health questions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7168" y="5824727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72% property decisions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7168" y="6062471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Calibri"/>
              </a:rPr>
              <a:t>(Brand Tracker Q4 2024)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507492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07D00"/>
                </a:solidFill>
                <a:latin typeface="Calibri"/>
              </a:rPr>
              <a:t>Top traffic hubs: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53492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20% Personal Finance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58698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16.8% Home Equipment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5824727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• 16.8% High Tech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6062471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Calibri"/>
              </a:rPr>
              <a:t>(Hub Online Sessions)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28431" y="5029200"/>
            <a:ext cx="54864" cy="1600200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83296" y="5029200"/>
            <a:ext cx="3858768" cy="1600200"/>
          </a:xfrm>
          <a:prstGeom prst="rect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56448" y="5102352"/>
            <a:ext cx="3712464" cy="1453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8003D"/>
                </a:solidFill>
                <a:latin typeface="Calibri"/>
              </a:rPr>
              <a:t>Relevance is the #1</a:t>
            </a:r>
          </a:p>
          <a:p>
            <a:pPr algn="l"/>
            <a:r>
              <a:rPr sz="850" b="0" i="1">
                <a:solidFill>
                  <a:srgbClr val="E8003D"/>
                </a:solidFill>
                <a:latin typeface="Calibri"/>
              </a:rPr>
              <a:t>driver of consideration</a:t>
            </a:r>
          </a:p>
          <a:p>
            <a:pPr algn="l"/>
            <a:r>
              <a:rPr sz="850" b="0" i="1">
                <a:solidFill>
                  <a:srgbClr val="E8003D"/>
                </a:solidFill>
                <a:latin typeface="Calibri"/>
              </a:rPr>
              <a:t>(43%)</a:t>
            </a:r>
          </a:p>
          <a:p>
            <a:pPr algn="l"/>
            <a:r>
              <a:rPr sz="850" b="0" i="1">
                <a:solidFill>
                  <a:srgbClr val="E8003D"/>
                </a:solidFill>
                <a:latin typeface="Calibri"/>
              </a:rPr>
              <a:t>(Brand Tracker Q4 2024)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" y="6492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003D"/>
                </a:solidFill>
                <a:latin typeface="Calibri"/>
              </a:rPr>
              <a:t>testachats</a:t>
            </a:r>
            <a:r>
              <a:rPr sz="800" b="0" i="0">
                <a:solidFill>
                  <a:srgbClr val="222222"/>
                </a:solidFill>
                <a:latin typeface="Calibri"/>
              </a:rPr>
              <a:t>  </a:t>
            </a:r>
            <a:r>
              <a:rPr sz="800" b="1" i="0">
                <a:solidFill>
                  <a:srgbClr val="222222"/>
                </a:solidFill>
                <a:latin typeface="Calibri"/>
              </a:rPr>
              <a:t>testaankoop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37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7777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210312"/>
            <a:ext cx="402336" cy="40233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10515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222222"/>
                </a:solidFill>
                <a:latin typeface="Calibri"/>
              </a:rPr>
              <a:t>WHERE SHOULD WE PRIORITISE,</a:t>
            </a:r>
          </a:p>
          <a:p>
            <a:pPr algn="l"/>
            <a:r>
              <a:rPr sz="2100" b="1" i="0">
                <a:solidFill>
                  <a:srgbClr val="E8003D"/>
                </a:solidFill>
                <a:latin typeface="Calibri"/>
              </a:rPr>
              <a:t>SIMPLIFY OR STOP?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822960" cy="36576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078992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77777"/>
                </a:solidFill>
                <a:latin typeface="Calibri"/>
              </a:rPr>
              <a:t>Focus on what creates the most value. Simplify to increase impact.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444752"/>
            <a:ext cx="3813048" cy="384048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PRIORITISE MORE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78808" y="1444752"/>
            <a:ext cx="3813048" cy="384048"/>
          </a:xfrm>
          <a:prstGeom prst="rect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SIMPLIFY</a:t>
            </a:r>
          </a:p>
        </p:txBody>
      </p:sp>
      <p:sp>
        <p:nvSpPr>
          <p:cNvPr id="9" name="Rectangle 8"/>
          <p:cNvSpPr/>
          <p:nvPr/>
        </p:nvSpPr>
        <p:spPr>
          <a:xfrm>
            <a:off x="8101583" y="1444752"/>
            <a:ext cx="3813048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REDUCE / REASSESS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874519"/>
            <a:ext cx="3813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22222"/>
                </a:solidFill>
                <a:latin typeface="Calibri"/>
              </a:rPr>
              <a:t>Invest in high-value 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1874519"/>
            <a:ext cx="3813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22222"/>
                </a:solidFill>
                <a:latin typeface="Calibri"/>
              </a:rPr>
              <a:t>Reduce operational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1583" y="1874519"/>
            <a:ext cx="3813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22222"/>
                </a:solidFill>
                <a:latin typeface="Calibri"/>
              </a:rPr>
              <a:t>Rationalise lower impact areas</a:t>
            </a:r>
          </a:p>
        </p:txBody>
      </p:sp>
      <p:sp>
        <p:nvSpPr>
          <p:cNvPr id="13" name="Oval 12"/>
          <p:cNvSpPr/>
          <p:nvPr/>
        </p:nvSpPr>
        <p:spPr>
          <a:xfrm>
            <a:off x="256032" y="2231136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176272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Personal Finance</a:t>
            </a:r>
          </a:p>
        </p:txBody>
      </p:sp>
      <p:sp>
        <p:nvSpPr>
          <p:cNvPr id="15" name="Oval 14"/>
          <p:cNvSpPr/>
          <p:nvPr/>
        </p:nvSpPr>
        <p:spPr>
          <a:xfrm>
            <a:off x="256032" y="2560320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505456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Rights &amp; Protection</a:t>
            </a:r>
          </a:p>
        </p:txBody>
      </p:sp>
      <p:sp>
        <p:nvSpPr>
          <p:cNvPr id="17" name="Oval 16"/>
          <p:cNvSpPr/>
          <p:nvPr/>
        </p:nvSpPr>
        <p:spPr>
          <a:xfrm>
            <a:off x="256032" y="2889503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834639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Housing &amp; Energy</a:t>
            </a:r>
          </a:p>
        </p:txBody>
      </p:sp>
      <p:sp>
        <p:nvSpPr>
          <p:cNvPr id="19" name="Oval 18"/>
          <p:cNvSpPr/>
          <p:nvPr/>
        </p:nvSpPr>
        <p:spPr>
          <a:xfrm>
            <a:off x="256032" y="3218687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163823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High Tech</a:t>
            </a:r>
          </a:p>
        </p:txBody>
      </p:sp>
      <p:sp>
        <p:nvSpPr>
          <p:cNvPr id="21" name="Oval 20"/>
          <p:cNvSpPr/>
          <p:nvPr/>
        </p:nvSpPr>
        <p:spPr>
          <a:xfrm>
            <a:off x="256032" y="3547871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493007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High-impact consumer decisions</a:t>
            </a:r>
          </a:p>
        </p:txBody>
      </p:sp>
      <p:sp>
        <p:nvSpPr>
          <p:cNvPr id="23" name="Oval 22"/>
          <p:cNvSpPr/>
          <p:nvPr/>
        </p:nvSpPr>
        <p:spPr>
          <a:xfrm>
            <a:off x="4178808" y="2231136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8264" y="2176272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Shared hub-based workflows</a:t>
            </a:r>
          </a:p>
        </p:txBody>
      </p:sp>
      <p:sp>
        <p:nvSpPr>
          <p:cNvPr id="25" name="Oval 24"/>
          <p:cNvSpPr/>
          <p:nvPr/>
        </p:nvSpPr>
        <p:spPr>
          <a:xfrm>
            <a:off x="4178808" y="2560320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2505456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Reduce duplicate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178808" y="2889503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8264" y="2834639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Simplify web/print production</a:t>
            </a:r>
          </a:p>
        </p:txBody>
      </p:sp>
      <p:sp>
        <p:nvSpPr>
          <p:cNvPr id="29" name="Oval 28"/>
          <p:cNvSpPr/>
          <p:nvPr/>
        </p:nvSpPr>
        <p:spPr>
          <a:xfrm>
            <a:off x="4178808" y="3218687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8264" y="3163823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AI-assisted repetitive tasks</a:t>
            </a:r>
          </a:p>
        </p:txBody>
      </p:sp>
      <p:sp>
        <p:nvSpPr>
          <p:cNvPr id="31" name="Oval 30"/>
          <p:cNvSpPr/>
          <p:nvPr/>
        </p:nvSpPr>
        <p:spPr>
          <a:xfrm>
            <a:off x="4178808" y="3547871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8264" y="3493007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Faster multi-channel publishing</a:t>
            </a:r>
          </a:p>
        </p:txBody>
      </p:sp>
      <p:sp>
        <p:nvSpPr>
          <p:cNvPr id="33" name="Oval 32"/>
          <p:cNvSpPr/>
          <p:nvPr/>
        </p:nvSpPr>
        <p:spPr>
          <a:xfrm>
            <a:off x="8101583" y="2231136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176272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Low-interest niche testing</a:t>
            </a:r>
          </a:p>
        </p:txBody>
      </p:sp>
      <p:sp>
        <p:nvSpPr>
          <p:cNvPr id="35" name="Oval 34"/>
          <p:cNvSpPr/>
          <p:nvPr/>
        </p:nvSpPr>
        <p:spPr>
          <a:xfrm>
            <a:off x="8101583" y="2560320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2505456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Fragmented micro-topics</a:t>
            </a:r>
          </a:p>
        </p:txBody>
      </p:sp>
      <p:sp>
        <p:nvSpPr>
          <p:cNvPr id="37" name="Oval 36"/>
          <p:cNvSpPr/>
          <p:nvPr/>
        </p:nvSpPr>
        <p:spPr>
          <a:xfrm>
            <a:off x="8101583" y="2889503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2834639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Duplicate workflows</a:t>
            </a:r>
          </a:p>
        </p:txBody>
      </p:sp>
      <p:sp>
        <p:nvSpPr>
          <p:cNvPr id="39" name="Oval 38"/>
          <p:cNvSpPr/>
          <p:nvPr/>
        </p:nvSpPr>
        <p:spPr>
          <a:xfrm>
            <a:off x="8101583" y="3218687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163823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Separation between publication brands</a:t>
            </a:r>
          </a:p>
        </p:txBody>
      </p:sp>
      <p:sp>
        <p:nvSpPr>
          <p:cNvPr id="41" name="Oval 40"/>
          <p:cNvSpPr/>
          <p:nvPr/>
        </p:nvSpPr>
        <p:spPr>
          <a:xfrm>
            <a:off x="8101583" y="3547871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493007"/>
            <a:ext cx="3557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Heavy manual adaptation processes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3886200"/>
            <a:ext cx="54864" cy="841248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896" y="3886200"/>
            <a:ext cx="3758184" cy="841248"/>
          </a:xfrm>
          <a:prstGeom prst="rect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3959352"/>
            <a:ext cx="3611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E8003D"/>
                </a:solidFill>
                <a:latin typeface="Calibri"/>
              </a:rPr>
              <a:t>54% of online sessions concentrated in Personal Finance, Home Equipment and High Tech. (Hub Online Sessions)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78808" y="3886200"/>
            <a:ext cx="54864" cy="841248"/>
          </a:xfrm>
          <a:prstGeom prst="rect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3672" y="3886200"/>
            <a:ext cx="3758184" cy="841248"/>
          </a:xfrm>
          <a:prstGeom prst="rect">
            <a:avLst/>
          </a:prstGeom>
          <a:solidFill>
            <a:srgbClr val="FEF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06824" y="3959352"/>
            <a:ext cx="3611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07D00"/>
                </a:solidFill>
                <a:latin typeface="Calibri"/>
              </a:rPr>
              <a:t>Major opportunity to reduce complexity and speed up publishing. (Internal observation)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01583" y="3886200"/>
            <a:ext cx="54864" cy="8412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56448" y="3886200"/>
            <a:ext cx="3758184" cy="841248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0" y="3959352"/>
            <a:ext cx="3611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A5C00"/>
                </a:solidFill>
                <a:latin typeface="Calibri"/>
              </a:rPr>
              <a:t>Lower traffic hubs:</a:t>
            </a:r>
          </a:p>
          <a:p>
            <a:pPr algn="l"/>
            <a:r>
              <a:rPr sz="750" b="0" i="1">
                <a:solidFill>
                  <a:srgbClr val="7A5C00"/>
                </a:solidFill>
                <a:latin typeface="Calibri"/>
              </a:rPr>
              <a:t>Shopping 3.1% | Rights 5.4% | Mobility 5.5%</a:t>
            </a:r>
          </a:p>
          <a:p>
            <a:pPr algn="l"/>
            <a:r>
              <a:rPr sz="750" b="0" i="1">
                <a:solidFill>
                  <a:srgbClr val="7A5C00"/>
                </a:solidFill>
                <a:latin typeface="Calibri"/>
              </a:rPr>
              <a:t>(Hub Online Sessions)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00600"/>
            <a:ext cx="12188952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" y="48646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22222"/>
                </a:solidFill>
                <a:latin typeface="Calibri"/>
              </a:rPr>
              <a:t>AI SHOULD SUPPORT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6032" y="51663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First drafts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032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Translation &amp; SEO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" y="5715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Workflow acceleration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9048" y="4773168"/>
            <a:ext cx="27432" cy="1645920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81928" y="4864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22222"/>
                </a:solidFill>
                <a:latin typeface="Calibri"/>
              </a:rPr>
              <a:t>HUMAN EXPERTISE REMAINS ESSENTIAL FOR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1928" y="5166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Legal interpretation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928" y="54406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Validation &amp; credibility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1928" y="57150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• Consumer advocacy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" y="6492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003D"/>
                </a:solidFill>
                <a:latin typeface="Calibri"/>
              </a:rPr>
              <a:t>testachats</a:t>
            </a:r>
            <a:r>
              <a:rPr sz="800" b="0" i="0">
                <a:solidFill>
                  <a:srgbClr val="222222"/>
                </a:solidFill>
                <a:latin typeface="Calibri"/>
              </a:rPr>
              <a:t>  </a:t>
            </a:r>
            <a:r>
              <a:rPr sz="800" b="1" i="0">
                <a:solidFill>
                  <a:srgbClr val="222222"/>
                </a:solidFill>
                <a:latin typeface="Calibri"/>
              </a:rPr>
              <a:t>testaankoop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795760" y="6537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7777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210312"/>
            <a:ext cx="402336" cy="40233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10515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222222"/>
                </a:solidFill>
                <a:latin typeface="Calibri"/>
              </a:rPr>
              <a:t>OPERATIONAL CONSEQUENCES</a:t>
            </a:r>
          </a:p>
          <a:p>
            <a:pPr algn="l"/>
            <a:r>
              <a:rPr sz="2100" b="1" i="0">
                <a:solidFill>
                  <a:srgbClr val="E8003D"/>
                </a:solidFill>
                <a:latin typeface="Calibri"/>
              </a:rPr>
              <a:t>&amp; FUTURE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822960" cy="36576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0789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77"/>
                </a:solidFill>
                <a:latin typeface="Calibri"/>
              </a:rPr>
              <a:t>From publication silos to integrated consumer hubs.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444752"/>
            <a:ext cx="5303520" cy="3657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84708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  <a:latin typeface="Calibri"/>
              </a:rPr>
              <a:t>Publication-centric &amp; fragmented</a:t>
            </a:r>
          </a:p>
        </p:txBody>
      </p:sp>
      <p:sp>
        <p:nvSpPr>
          <p:cNvPr id="9" name="Oval 8"/>
          <p:cNvSpPr/>
          <p:nvPr/>
        </p:nvSpPr>
        <p:spPr>
          <a:xfrm>
            <a:off x="347472" y="2176272"/>
            <a:ext cx="749808" cy="749808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TA</a:t>
            </a:r>
          </a:p>
        </p:txBody>
      </p:sp>
      <p:sp>
        <p:nvSpPr>
          <p:cNvPr id="10" name="Oval 9"/>
          <p:cNvSpPr/>
          <p:nvPr/>
        </p:nvSpPr>
        <p:spPr>
          <a:xfrm>
            <a:off x="1444752" y="2176272"/>
            <a:ext cx="749808" cy="749808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BD</a:t>
            </a:r>
          </a:p>
        </p:txBody>
      </p:sp>
      <p:sp>
        <p:nvSpPr>
          <p:cNvPr id="11" name="Oval 10"/>
          <p:cNvSpPr/>
          <p:nvPr/>
        </p:nvSpPr>
        <p:spPr>
          <a:xfrm>
            <a:off x="2542032" y="2176272"/>
            <a:ext cx="749808" cy="749808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TS</a:t>
            </a:r>
          </a:p>
        </p:txBody>
      </p:sp>
      <p:sp>
        <p:nvSpPr>
          <p:cNvPr id="12" name="Oval 11"/>
          <p:cNvSpPr/>
          <p:nvPr/>
        </p:nvSpPr>
        <p:spPr>
          <a:xfrm>
            <a:off x="3639312" y="2176272"/>
            <a:ext cx="749808" cy="749808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971800"/>
            <a:ext cx="3108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ECE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Calibri"/>
              </a:rPr>
              <a:t>Central editorial bottlenecks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566160"/>
            <a:ext cx="2286000" cy="347472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77777"/>
                </a:solidFill>
                <a:latin typeface="Calibri"/>
              </a:rPr>
              <a:t>Web / Print separation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005072"/>
            <a:ext cx="3108960" cy="347472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77777"/>
                </a:solidFill>
                <a:latin typeface="Calibri"/>
              </a:rPr>
              <a:t>Multiple handovers &amp; duplicate work</a:t>
            </a:r>
          </a:p>
        </p:txBody>
      </p:sp>
      <p:sp>
        <p:nvSpPr>
          <p:cNvPr id="19" name="Oval 18"/>
          <p:cNvSpPr/>
          <p:nvPr/>
        </p:nvSpPr>
        <p:spPr>
          <a:xfrm>
            <a:off x="256032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-475488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-475488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Expertise</a:t>
            </a:r>
          </a:p>
        </p:txBody>
      </p:sp>
      <p:sp>
        <p:nvSpPr>
          <p:cNvPr id="22" name="Oval 21"/>
          <p:cNvSpPr/>
          <p:nvPr/>
        </p:nvSpPr>
        <p:spPr>
          <a:xfrm>
            <a:off x="2212848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81328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81328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Editorial</a:t>
            </a:r>
          </a:p>
        </p:txBody>
      </p:sp>
      <p:sp>
        <p:nvSpPr>
          <p:cNvPr id="25" name="Oval 24"/>
          <p:cNvSpPr/>
          <p:nvPr/>
        </p:nvSpPr>
        <p:spPr>
          <a:xfrm>
            <a:off x="4169664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38144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38144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SEO</a:t>
            </a:r>
          </a:p>
        </p:txBody>
      </p:sp>
      <p:sp>
        <p:nvSpPr>
          <p:cNvPr id="28" name="Oval 27"/>
          <p:cNvSpPr/>
          <p:nvPr/>
        </p:nvSpPr>
        <p:spPr>
          <a:xfrm>
            <a:off x="6126480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94960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AI Support</a:t>
            </a:r>
          </a:p>
        </p:txBody>
      </p:sp>
      <p:sp>
        <p:nvSpPr>
          <p:cNvPr id="31" name="Oval 30"/>
          <p:cNvSpPr/>
          <p:nvPr/>
        </p:nvSpPr>
        <p:spPr>
          <a:xfrm>
            <a:off x="8083296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51775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1775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Data &amp;</a:t>
            </a:r>
          </a:p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Insights</a:t>
            </a:r>
          </a:p>
        </p:txBody>
      </p:sp>
      <p:sp>
        <p:nvSpPr>
          <p:cNvPr id="34" name="Oval 33"/>
          <p:cNvSpPr/>
          <p:nvPr/>
        </p:nvSpPr>
        <p:spPr>
          <a:xfrm>
            <a:off x="10040112" y="4681728"/>
            <a:ext cx="365760" cy="3657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08592" y="5102352"/>
            <a:ext cx="1828800" cy="3840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08592" y="5102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Digital</a:t>
            </a:r>
          </a:p>
          <a:p>
            <a:pPr algn="ctr"/>
            <a:r>
              <a:rPr sz="750" b="0" i="0">
                <a:solidFill>
                  <a:srgbClr val="222222"/>
                </a:solidFill>
                <a:latin typeface="Calibri"/>
              </a:rPr>
              <a:t>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444752"/>
            <a:ext cx="5577840" cy="365760"/>
          </a:xfrm>
          <a:prstGeom prst="rect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FUTURE DIRECTION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184708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  <a:latin typeface="Calibri"/>
              </a:rPr>
              <a:t>Integrated consumer hubs</a:t>
            </a:r>
          </a:p>
        </p:txBody>
      </p:sp>
      <p:sp>
        <p:nvSpPr>
          <p:cNvPr id="39" name="Oval 38"/>
          <p:cNvSpPr/>
          <p:nvPr/>
        </p:nvSpPr>
        <p:spPr>
          <a:xfrm>
            <a:off x="8595360" y="2331720"/>
            <a:ext cx="1600200" cy="1600200"/>
          </a:xfrm>
          <a:prstGeom prst="ellipse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CONSUMER</a:t>
            </a:r>
          </a:p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NEEDS</a:t>
            </a:r>
          </a:p>
        </p:txBody>
      </p:sp>
      <p:sp>
        <p:nvSpPr>
          <p:cNvPr id="40" name="Oval 39"/>
          <p:cNvSpPr/>
          <p:nvPr/>
        </p:nvSpPr>
        <p:spPr>
          <a:xfrm>
            <a:off x="6858000" y="1920240"/>
            <a:ext cx="1188720" cy="914400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Personal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3200400"/>
            <a:ext cx="1188720" cy="914400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High Tech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&amp; Mobility</a:t>
            </a:r>
          </a:p>
        </p:txBody>
      </p:sp>
      <p:sp>
        <p:nvSpPr>
          <p:cNvPr id="42" name="Oval 41"/>
          <p:cNvSpPr/>
          <p:nvPr/>
        </p:nvSpPr>
        <p:spPr>
          <a:xfrm>
            <a:off x="10195560" y="2011680"/>
            <a:ext cx="1188720" cy="914400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Rights &amp;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Protection</a:t>
            </a:r>
          </a:p>
        </p:txBody>
      </p:sp>
      <p:sp>
        <p:nvSpPr>
          <p:cNvPr id="43" name="Oval 42"/>
          <p:cNvSpPr/>
          <p:nvPr/>
        </p:nvSpPr>
        <p:spPr>
          <a:xfrm>
            <a:off x="10195560" y="3291840"/>
            <a:ext cx="1188720" cy="914400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Health &amp;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Nutrition</a:t>
            </a:r>
          </a:p>
        </p:txBody>
      </p:sp>
      <p:sp>
        <p:nvSpPr>
          <p:cNvPr id="44" name="Oval 43"/>
          <p:cNvSpPr/>
          <p:nvPr/>
        </p:nvSpPr>
        <p:spPr>
          <a:xfrm>
            <a:off x="8412480" y="4023360"/>
            <a:ext cx="1188720" cy="914400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Housing &amp;</a:t>
            </a:r>
          </a:p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Energy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6032" y="5687568"/>
            <a:ext cx="11676888" cy="475488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" y="5715000"/>
            <a:ext cx="291922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Faster collaboration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75254" y="5715000"/>
            <a:ext cx="291922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Less duplication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4476" y="5715000"/>
            <a:ext cx="291922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More scalability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3698" y="5715000"/>
            <a:ext cx="291922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  Stronger consumer focus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" y="6492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003D"/>
                </a:solidFill>
                <a:latin typeface="Calibri"/>
              </a:rPr>
              <a:t>testachats</a:t>
            </a:r>
            <a:r>
              <a:rPr sz="800" b="0" i="0">
                <a:solidFill>
                  <a:srgbClr val="222222"/>
                </a:solidFill>
                <a:latin typeface="Calibri"/>
              </a:rPr>
              <a:t>  </a:t>
            </a:r>
            <a:r>
              <a:rPr sz="800" b="1" i="0">
                <a:solidFill>
                  <a:srgbClr val="222222"/>
                </a:solidFill>
                <a:latin typeface="Calibri"/>
              </a:rPr>
              <a:t>testaankoop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95760" y="6537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7777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210312"/>
            <a:ext cx="402336" cy="40233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9601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07D00"/>
                </a:solidFill>
                <a:latin typeface="Calibri"/>
              </a:rPr>
              <a:t>WHERE IS EFFICIENCY</a:t>
            </a:r>
          </a:p>
          <a:p>
            <a:pPr algn="l"/>
            <a:r>
              <a:rPr sz="2100" b="1" i="0">
                <a:solidFill>
                  <a:srgbClr val="E8003D"/>
                </a:solidFill>
                <a:latin typeface="Calibri"/>
              </a:rPr>
              <a:t>BEING LOST TODAY?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822960" cy="36576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031" y="1280160"/>
            <a:ext cx="594360" cy="5943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8003D"/>
                </a:solidFill>
                <a:latin typeface="Calibri"/>
              </a:rPr>
              <a:t>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7D00"/>
                </a:solidFill>
                <a:latin typeface="Calibri"/>
              </a:rPr>
              <a:t>REPETITIVE CONSUMER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91056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High volume of Tier-1 questions handled manually (e.g., account, membership, basic info).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2157984"/>
            <a:ext cx="7589520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6031" y="2231136"/>
            <a:ext cx="594360" cy="5943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07D00"/>
                </a:solidFill>
                <a:latin typeface="Calibri"/>
              </a:rPr>
              <a:t>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31136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7D00"/>
                </a:solidFill>
                <a:latin typeface="Calibri"/>
              </a:rPr>
              <a:t>COMPLEX PRODUCTION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42032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Multiple handovers between experts, editorial, SEO, translation and design slow down publishing.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3108960"/>
            <a:ext cx="7589520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6031" y="3182112"/>
            <a:ext cx="594360" cy="5943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8003D"/>
                </a:solidFill>
                <a:latin typeface="Calibri"/>
              </a:rPr>
              <a:t>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82112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7D00"/>
                </a:solidFill>
                <a:latin typeface="Calibri"/>
              </a:rPr>
              <a:t>FR/NL DUPLICATION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93008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Full human translation and adaptation for many content pieces.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4059936"/>
            <a:ext cx="7589520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6031" y="4133088"/>
            <a:ext cx="594360" cy="5943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07D00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33088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7D00"/>
                </a:solidFill>
                <a:latin typeface="Calibri"/>
              </a:rPr>
              <a:t>DUPLICATE DATA &amp;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43984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Siloed data and dashboards lead to duplication and inconsistent insights.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5010912"/>
            <a:ext cx="7589520" cy="27432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6031" y="5084064"/>
            <a:ext cx="594360" cy="594360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E8003D"/>
                </a:solidFill>
                <a:latin typeface="Calibri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84064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7D00"/>
                </a:solidFill>
                <a:latin typeface="Calibri"/>
              </a:rPr>
              <a:t>LOW-VALUE CONTENT VOLUME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94960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Resources spent on low-impact topics with limited consumer interest.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36992" y="1143000"/>
            <a:ext cx="4005072" cy="5440680"/>
          </a:xfrm>
          <a:prstGeom prst="rect">
            <a:avLst/>
          </a:prstGeom>
          <a:solidFill>
            <a:srgbClr val="FFC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36992" y="1298448"/>
            <a:ext cx="4005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003D"/>
                </a:solidFill>
                <a:latin typeface="Calibri"/>
              </a:rPr>
              <a:t>OPPORTUNITY</a:t>
            </a:r>
          </a:p>
        </p:txBody>
      </p:sp>
      <p:sp>
        <p:nvSpPr>
          <p:cNvPr id="27" name="Oval 26"/>
          <p:cNvSpPr/>
          <p:nvPr/>
        </p:nvSpPr>
        <p:spPr>
          <a:xfrm>
            <a:off x="8723376" y="1874519"/>
            <a:ext cx="2468880" cy="2468880"/>
          </a:xfrm>
          <a:prstGeom prst="ellipse">
            <a:avLst/>
          </a:prstGeom>
          <a:solidFill>
            <a:srgbClr val="CC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43416" y="2194560"/>
            <a:ext cx="1828800" cy="1828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63456" y="2514600"/>
            <a:ext cx="1188720" cy="1188720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0" y="284378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1" y="4526280"/>
            <a:ext cx="3822191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003D"/>
                </a:solidFill>
                <a:latin typeface="Calibri"/>
              </a:rPr>
              <a:t>Reduce friction,</a:t>
            </a:r>
          </a:p>
          <a:p>
            <a:pPr algn="ctr"/>
            <a:r>
              <a:rPr sz="1200" b="1" i="0">
                <a:solidFill>
                  <a:srgbClr val="E8003D"/>
                </a:solidFill>
                <a:latin typeface="Calibri"/>
              </a:rPr>
              <a:t>remove duplication</a:t>
            </a:r>
          </a:p>
          <a:p>
            <a:pPr algn="ctr"/>
            <a:r>
              <a:rPr sz="1200" b="1" i="0">
                <a:solidFill>
                  <a:srgbClr val="E8003D"/>
                </a:solidFill>
                <a:latin typeface="Calibri"/>
              </a:rPr>
              <a:t>and free up expertise</a:t>
            </a:r>
          </a:p>
          <a:p>
            <a:pPr algn="ctr"/>
            <a:r>
              <a:rPr sz="1200" b="1" i="0">
                <a:solidFill>
                  <a:srgbClr val="E8003D"/>
                </a:solidFill>
                <a:latin typeface="Calibri"/>
              </a:rPr>
              <a:t>for higher-value work.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" y="6492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003D"/>
                </a:solidFill>
                <a:latin typeface="Calibri"/>
              </a:rPr>
              <a:t>testachats</a:t>
            </a:r>
            <a:r>
              <a:rPr sz="800" b="0" i="0">
                <a:solidFill>
                  <a:srgbClr val="222222"/>
                </a:solidFill>
                <a:latin typeface="Calibri"/>
              </a:rPr>
              <a:t>  </a:t>
            </a:r>
            <a:r>
              <a:rPr sz="800" b="1" i="0">
                <a:solidFill>
                  <a:srgbClr val="222222"/>
                </a:solidFill>
                <a:latin typeface="Calibri"/>
              </a:rPr>
              <a:t>testaankoop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0" y="6537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7777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37160"/>
            <a:ext cx="402336" cy="40233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WOW – OPPORTUNITIES FOR THE NEXT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94360"/>
            <a:ext cx="822960" cy="36576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67512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77777"/>
                </a:solidFill>
                <a:latin typeface="Calibri"/>
              </a:rPr>
              <a:t>Build on our strengths to create even more impact for consumers.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987552"/>
            <a:ext cx="3813048" cy="566928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1. TRUSTED CONSUMER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PROTECTION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78808" y="987552"/>
            <a:ext cx="3813048" cy="566928"/>
          </a:xfrm>
          <a:prstGeom prst="rect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2. AI-ENABLED DECISION</a:t>
            </a:r>
          </a:p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01583" y="987552"/>
            <a:ext cx="3813048" cy="5669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3. LIFE MOMENT SUPPORT</a:t>
            </a:r>
          </a:p>
        </p:txBody>
      </p:sp>
      <p:sp>
        <p:nvSpPr>
          <p:cNvPr id="10" name="Oval 9"/>
          <p:cNvSpPr/>
          <p:nvPr/>
        </p:nvSpPr>
        <p:spPr>
          <a:xfrm>
            <a:off x="1869948" y="1627632"/>
            <a:ext cx="585216" cy="58521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69948" y="1627632"/>
            <a:ext cx="585216" cy="585216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12" name="Oval 11"/>
          <p:cNvSpPr/>
          <p:nvPr/>
        </p:nvSpPr>
        <p:spPr>
          <a:xfrm>
            <a:off x="5792724" y="1627632"/>
            <a:ext cx="585216" cy="585216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92724" y="1627632"/>
            <a:ext cx="585216" cy="585216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4" name="Oval 13"/>
          <p:cNvSpPr/>
          <p:nvPr/>
        </p:nvSpPr>
        <p:spPr>
          <a:xfrm>
            <a:off x="9715500" y="1627632"/>
            <a:ext cx="585216" cy="585216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15500" y="1627632"/>
            <a:ext cx="585216" cy="585216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⭐</a:t>
            </a:r>
          </a:p>
        </p:txBody>
      </p:sp>
      <p:sp>
        <p:nvSpPr>
          <p:cNvPr id="16" name="Oval 15"/>
          <p:cNvSpPr/>
          <p:nvPr/>
        </p:nvSpPr>
        <p:spPr>
          <a:xfrm>
            <a:off x="256032" y="2386584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331720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Scams &amp; fraud protection</a:t>
            </a:r>
          </a:p>
        </p:txBody>
      </p:sp>
      <p:sp>
        <p:nvSpPr>
          <p:cNvPr id="18" name="Oval 17"/>
          <p:cNvSpPr/>
          <p:nvPr/>
        </p:nvSpPr>
        <p:spPr>
          <a:xfrm>
            <a:off x="256032" y="2679191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624327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Privacy &amp; data</a:t>
            </a:r>
          </a:p>
        </p:txBody>
      </p:sp>
      <p:sp>
        <p:nvSpPr>
          <p:cNvPr id="20" name="Oval 19"/>
          <p:cNvSpPr/>
          <p:nvPr/>
        </p:nvSpPr>
        <p:spPr>
          <a:xfrm>
            <a:off x="256032" y="2971799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916935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Dispute support</a:t>
            </a:r>
          </a:p>
        </p:txBody>
      </p:sp>
      <p:sp>
        <p:nvSpPr>
          <p:cNvPr id="22" name="Oval 21"/>
          <p:cNvSpPr/>
          <p:nvPr/>
        </p:nvSpPr>
        <p:spPr>
          <a:xfrm>
            <a:off x="256032" y="3264407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209543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Contract optimisation</a:t>
            </a:r>
          </a:p>
        </p:txBody>
      </p:sp>
      <p:sp>
        <p:nvSpPr>
          <p:cNvPr id="24" name="Oval 23"/>
          <p:cNvSpPr/>
          <p:nvPr/>
        </p:nvSpPr>
        <p:spPr>
          <a:xfrm>
            <a:off x="256032" y="3557015"/>
            <a:ext cx="164592" cy="164592"/>
          </a:xfrm>
          <a:prstGeom prst="ellipse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3502151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Stronger legal support</a:t>
            </a:r>
          </a:p>
        </p:txBody>
      </p:sp>
      <p:sp>
        <p:nvSpPr>
          <p:cNvPr id="26" name="Oval 25"/>
          <p:cNvSpPr/>
          <p:nvPr/>
        </p:nvSpPr>
        <p:spPr>
          <a:xfrm>
            <a:off x="4178808" y="2386584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98264" y="2331720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Smart comparators</a:t>
            </a:r>
          </a:p>
        </p:txBody>
      </p:sp>
      <p:sp>
        <p:nvSpPr>
          <p:cNvPr id="28" name="Oval 27"/>
          <p:cNvSpPr/>
          <p:nvPr/>
        </p:nvSpPr>
        <p:spPr>
          <a:xfrm>
            <a:off x="4178808" y="2679191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98264" y="2624327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Personalised recommendations</a:t>
            </a:r>
          </a:p>
        </p:txBody>
      </p:sp>
      <p:sp>
        <p:nvSpPr>
          <p:cNvPr id="30" name="Oval 29"/>
          <p:cNvSpPr/>
          <p:nvPr/>
        </p:nvSpPr>
        <p:spPr>
          <a:xfrm>
            <a:off x="4178808" y="2971799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98264" y="2916935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AI consumer assistant</a:t>
            </a:r>
          </a:p>
        </p:txBody>
      </p:sp>
      <p:sp>
        <p:nvSpPr>
          <p:cNvPr id="32" name="Oval 31"/>
          <p:cNvSpPr/>
          <p:nvPr/>
        </p:nvSpPr>
        <p:spPr>
          <a:xfrm>
            <a:off x="4178808" y="3264407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98264" y="3209543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Savings optimisation tools</a:t>
            </a:r>
          </a:p>
        </p:txBody>
      </p:sp>
      <p:sp>
        <p:nvSpPr>
          <p:cNvPr id="34" name="Oval 33"/>
          <p:cNvSpPr/>
          <p:nvPr/>
        </p:nvSpPr>
        <p:spPr>
          <a:xfrm>
            <a:off x="4178808" y="3557015"/>
            <a:ext cx="164592" cy="164592"/>
          </a:xfrm>
          <a:prstGeom prst="ellipse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98264" y="3502151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Proactive alerts &amp; guidance</a:t>
            </a:r>
          </a:p>
        </p:txBody>
      </p:sp>
      <p:sp>
        <p:nvSpPr>
          <p:cNvPr id="36" name="Oval 35"/>
          <p:cNvSpPr/>
          <p:nvPr/>
        </p:nvSpPr>
        <p:spPr>
          <a:xfrm>
            <a:off x="8101583" y="2386584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2331720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Buying a home</a:t>
            </a:r>
          </a:p>
        </p:txBody>
      </p:sp>
      <p:sp>
        <p:nvSpPr>
          <p:cNvPr id="38" name="Oval 37"/>
          <p:cNvSpPr/>
          <p:nvPr/>
        </p:nvSpPr>
        <p:spPr>
          <a:xfrm>
            <a:off x="8101583" y="2679191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2624327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Retirement</a:t>
            </a:r>
          </a:p>
        </p:txBody>
      </p:sp>
      <p:sp>
        <p:nvSpPr>
          <p:cNvPr id="40" name="Oval 39"/>
          <p:cNvSpPr/>
          <p:nvPr/>
        </p:nvSpPr>
        <p:spPr>
          <a:xfrm>
            <a:off x="8101583" y="2971799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2916935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Investing</a:t>
            </a:r>
          </a:p>
        </p:txBody>
      </p:sp>
      <p:sp>
        <p:nvSpPr>
          <p:cNvPr id="42" name="Oval 41"/>
          <p:cNvSpPr/>
          <p:nvPr/>
        </p:nvSpPr>
        <p:spPr>
          <a:xfrm>
            <a:off x="8101583" y="3264407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3209543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Energy transition</a:t>
            </a:r>
          </a:p>
        </p:txBody>
      </p:sp>
      <p:sp>
        <p:nvSpPr>
          <p:cNvPr id="44" name="Oval 43"/>
          <p:cNvSpPr/>
          <p:nvPr/>
        </p:nvSpPr>
        <p:spPr>
          <a:xfrm>
            <a:off x="8101583" y="3557015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3502151"/>
            <a:ext cx="35570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Major life decisions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3886200"/>
            <a:ext cx="54864" cy="896112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0896" y="3886200"/>
            <a:ext cx="3758184" cy="896112"/>
          </a:xfrm>
          <a:prstGeom prst="rect">
            <a:avLst/>
          </a:prstGeom>
          <a:solidFill>
            <a:srgbClr val="FF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3959352"/>
            <a:ext cx="3611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E8003D"/>
                </a:solidFill>
                <a:latin typeface="Calibri"/>
              </a:rPr>
              <a:t>Consumers expect more presence in Privacy/Data, Legal rights and Financial matters.</a:t>
            </a:r>
          </a:p>
          <a:p>
            <a:pPr algn="l"/>
            <a:r>
              <a:rPr sz="750" b="0" i="1">
                <a:solidFill>
                  <a:srgbClr val="E8003D"/>
                </a:solidFill>
                <a:latin typeface="Calibri"/>
              </a:rPr>
              <a:t>(Brand Tracker Q4 2024)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78808" y="3886200"/>
            <a:ext cx="54864" cy="896112"/>
          </a:xfrm>
          <a:prstGeom prst="rect">
            <a:avLst/>
          </a:prstGeom>
          <a:solidFill>
            <a:srgbClr val="F0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33672" y="3886200"/>
            <a:ext cx="3758184" cy="896112"/>
          </a:xfrm>
          <a:prstGeom prst="rect">
            <a:avLst/>
          </a:prstGeom>
          <a:solidFill>
            <a:srgbClr val="FEF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6824" y="3959352"/>
            <a:ext cx="3611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07D00"/>
                </a:solidFill>
                <a:latin typeface="Calibri"/>
              </a:rPr>
              <a:t>Leverage our expertise and data to deliver personalised, real-time consumer guidance.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01583" y="3886200"/>
            <a:ext cx="54864" cy="89611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56448" y="3886200"/>
            <a:ext cx="3758184" cy="896112"/>
          </a:xfrm>
          <a:prstGeom prst="rect">
            <a:avLst/>
          </a:prstGeom>
          <a:solidFill>
            <a:srgbClr val="FFF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0" y="3959352"/>
            <a:ext cx="3611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A5C00"/>
                </a:solidFill>
                <a:latin typeface="Calibri"/>
              </a:rPr>
              <a:t>Millennials show strong relevance for life moments and financial guidance.</a:t>
            </a:r>
          </a:p>
          <a:p>
            <a:pPr algn="l"/>
            <a:r>
              <a:rPr sz="750" b="0" i="1">
                <a:solidFill>
                  <a:srgbClr val="7A5C00"/>
                </a:solidFill>
                <a:latin typeface="Calibri"/>
              </a:rPr>
              <a:t>(Brand Tracker Q4 2024)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" y="4919472"/>
            <a:ext cx="11676888" cy="658368"/>
          </a:xfrm>
          <a:prstGeom prst="rect">
            <a:avLst/>
          </a:prstGeom>
          <a:solidFill>
            <a:srgbClr val="E80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7472" y="4974336"/>
            <a:ext cx="530352" cy="53035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" y="5010912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Information built our reputation.   Helping consumers make better decisions should define our future.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6032" y="6492240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E8003D"/>
                </a:solidFill>
                <a:latin typeface="Calibri"/>
              </a:rPr>
              <a:t>testachats</a:t>
            </a:r>
            <a:r>
              <a:rPr sz="800" b="0" i="0">
                <a:solidFill>
                  <a:srgbClr val="222222"/>
                </a:solidFill>
                <a:latin typeface="Calibri"/>
              </a:rPr>
              <a:t>  </a:t>
            </a:r>
            <a:r>
              <a:rPr sz="800" b="1" i="0">
                <a:solidFill>
                  <a:srgbClr val="222222"/>
                </a:solidFill>
                <a:latin typeface="Calibri"/>
              </a:rPr>
              <a:t>testaankoop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37960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77777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