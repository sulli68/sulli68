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9456" y="173736"/>
            <a:ext cx="475488" cy="475488"/>
          </a:xfrm>
          <a:prstGeom prst="ellipse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</a:rPr>
              <a:t>WHAT IS TRULY ESSENTIAL</a:t>
            </a:r>
          </a:p>
          <a:p>
            <a:pPr algn="l"/>
            <a:r>
              <a:rPr sz="2100" b="1" i="0">
                <a:solidFill>
                  <a:srgbClr val="E8003D"/>
                </a:solidFill>
              </a:rPr>
              <a:t>FOR CONSUMERS?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05840"/>
            <a:ext cx="731520" cy="36576"/>
          </a:xfrm>
          <a:prstGeom prst="rect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789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Our value is built on trust, expertise and impact.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2743200" cy="3566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8740" y="1554480"/>
            <a:ext cx="502920" cy="502920"/>
          </a:xfrm>
          <a:prstGeom prst="ellipse">
            <a:avLst/>
          </a:prstGeom>
          <a:solidFill>
            <a:srgbClr val="FF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1488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</a:rPr>
              <a:t>TRUST &amp;
INDEPENDENCE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25146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• Independent voice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High credibility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Consumer-first mission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63040"/>
            <a:ext cx="2743200" cy="3566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20540" y="1554480"/>
            <a:ext cx="502920" cy="502920"/>
          </a:xfrm>
          <a:prstGeom prst="ellipse">
            <a:avLst/>
          </a:prstGeom>
          <a:solidFill>
            <a:srgbClr val="FF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1488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8000"/>
                </a:solidFill>
              </a:rPr>
              <a:t>PRACTICAL CONSUMER
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743200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• Rights &amp; disputes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Financial guidance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Energy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Major purchases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Contracts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63040"/>
            <a:ext cx="2743200" cy="3566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92340" y="1554480"/>
            <a:ext cx="502920" cy="502920"/>
          </a:xfrm>
          <a:prstGeom prst="ellipse">
            <a:avLst/>
          </a:prstGeom>
          <a:solidFill>
            <a:srgbClr val="FF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1488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8000"/>
                </a:solidFill>
              </a:rPr>
              <a:t>EXPERTISE &amp;
DECISION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43200"/>
            <a:ext cx="25146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• Testing capability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Structured data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Comparison intelligence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Help consumers make decisions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463040"/>
            <a:ext cx="2743200" cy="3566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64140" y="1554480"/>
            <a:ext cx="502920" cy="502920"/>
          </a:xfrm>
          <a:prstGeom prst="ellipse">
            <a:avLst/>
          </a:prstGeom>
          <a:solidFill>
            <a:srgbClr val="FF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1488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8000"/>
                </a:solidFill>
              </a:rPr>
              <a:t>SIMPLICITY &amp;
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743200"/>
            <a:ext cx="25146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• Clear answers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Actionable advice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Save time &amp; money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Build confidence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138928"/>
            <a:ext cx="269748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5184648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</a:rPr>
              <a:t>96%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587959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77777"/>
                </a:solidFill>
              </a:rPr>
              <a:t>aided awareness
(Brand Tracker Q4 2024)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5102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08000"/>
                </a:solidFill>
              </a:rPr>
              <a:t>Top relevance scores: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5376672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78% fiscal questions</a:t>
            </a:r>
          </a:p>
          <a:p>
            <a:pPr algn="l"/>
            <a:r>
              <a:rPr sz="800" b="0" i="0">
                <a:solidFill>
                  <a:srgbClr val="1A1A1A"/>
                </a:solidFill>
              </a:rPr>
              <a:t>76% health questions</a:t>
            </a:r>
          </a:p>
          <a:p>
            <a:pPr algn="l"/>
            <a:r>
              <a:rPr sz="800" b="0" i="0">
                <a:solidFill>
                  <a:srgbClr val="1A1A1A"/>
                </a:solidFill>
              </a:rPr>
              <a:t>72% property decisions</a:t>
            </a:r>
          </a:p>
          <a:p>
            <a:pPr algn="l"/>
            <a:r>
              <a:rPr sz="700" b="0" i="1">
                <a:solidFill>
                  <a:srgbClr val="777777"/>
                </a:solidFill>
              </a:rPr>
              <a:t>(Brand Tracker Q4 2024)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102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08000"/>
                </a:solidFill>
              </a:rPr>
              <a:t>Top traffic hubs: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376672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20% Personal Finance</a:t>
            </a:r>
          </a:p>
          <a:p>
            <a:pPr algn="l"/>
            <a:r>
              <a:rPr sz="800" b="0" i="0">
                <a:solidFill>
                  <a:srgbClr val="1A1A1A"/>
                </a:solidFill>
              </a:rPr>
              <a:t>16.8% Home Equipment</a:t>
            </a:r>
          </a:p>
          <a:p>
            <a:pPr algn="l"/>
            <a:r>
              <a:rPr sz="800" b="0" i="0">
                <a:solidFill>
                  <a:srgbClr val="1A1A1A"/>
                </a:solidFill>
              </a:rPr>
              <a:t>16.8% High Tech</a:t>
            </a:r>
          </a:p>
          <a:p>
            <a:pPr algn="l"/>
            <a:r>
              <a:rPr sz="700" b="0" i="1">
                <a:solidFill>
                  <a:srgbClr val="777777"/>
                </a:solidFill>
              </a:rPr>
              <a:t>(Hub Online Sessions)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15400" y="5102352"/>
            <a:ext cx="3063240" cy="1554480"/>
          </a:xfrm>
          <a:prstGeom prst="rect">
            <a:avLst/>
          </a:prstGeom>
          <a:solidFill>
            <a:srgbClr val="FFE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5166360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8003D"/>
                </a:solidFill>
              </a:rPr>
              <a:t>Relevance is the #1 driver of consideration (43%)
(Brand Tracker Q4 2024)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95760" y="6537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E8003D"/>
                </a:solidFill>
              </a:rPr>
              <a:t>testachats</a:t>
            </a:r>
          </a:p>
          <a:p>
            <a:r>
              <a:rPr sz="700" b="1" i="0">
                <a:solidFill>
                  <a:srgbClr val="1A1A1A"/>
                </a:solidFill>
              </a:rPr>
              <a:t>testaankoop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9456" y="173736"/>
            <a:ext cx="475488" cy="475488"/>
          </a:xfrm>
          <a:prstGeom prst="ellipse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</a:rPr>
              <a:t>WHERE SHOULD WE PRIORITISE,</a:t>
            </a:r>
          </a:p>
          <a:p>
            <a:pPr algn="l"/>
            <a:r>
              <a:rPr sz="2000" b="1" i="0">
                <a:solidFill>
                  <a:srgbClr val="E8003D"/>
                </a:solidFill>
              </a:rPr>
              <a:t>SIMPLIFY OR STOP?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87552"/>
            <a:ext cx="731520" cy="36576"/>
          </a:xfrm>
          <a:prstGeom prst="rect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Focus on what creates the most value. Simplify to increase impact.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99032"/>
            <a:ext cx="3840480" cy="384048"/>
          </a:xfrm>
          <a:prstGeom prst="rect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PRIORITISE MORE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399032"/>
            <a:ext cx="3840480" cy="384048"/>
          </a:xfrm>
          <a:prstGeom prst="rect">
            <a:avLst/>
          </a:prstGeom>
          <a:solidFill>
            <a:srgbClr val="F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SIMPLIFY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399032"/>
            <a:ext cx="384048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REDUCE / REASSESS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28800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Invest in high-value 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828800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Reduce operational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Rationalise lower impact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130552"/>
            <a:ext cx="3703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• Personal Finance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Rights &amp; Protection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Housing &amp; Energy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High Tech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High-impact consumer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30552"/>
            <a:ext cx="3703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• Shared hub-based workflows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Reduce duplicate layers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Simplify web/print production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AI-assisted repetitive tasks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Faster multi-channel publishing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30552"/>
            <a:ext cx="3703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• Low-interest niche testing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Fragmented micro-topics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Duplicate workflows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Separation between publication brands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Heavy manual adaptation processes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913632"/>
            <a:ext cx="3840480" cy="841248"/>
          </a:xfrm>
          <a:prstGeom prst="rect">
            <a:avLst/>
          </a:prstGeom>
          <a:solidFill>
            <a:srgbClr val="FFE0EC"/>
          </a:solidFill>
          <a:ln w="6350">
            <a:solidFill>
              <a:srgbClr val="E80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395935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E8003D"/>
                </a:solidFill>
              </a:rPr>
              <a:t>54% of online sessions concentrated in Personal Finance, Home Equipment and High Tech.
(Hub Online Sessions)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913632"/>
            <a:ext cx="3840480" cy="841248"/>
          </a:xfrm>
          <a:prstGeom prst="rect">
            <a:avLst/>
          </a:prstGeom>
          <a:solidFill>
            <a:srgbClr val="FFF0D8"/>
          </a:solidFill>
          <a:ln w="6350">
            <a:solidFill>
              <a:srgbClr val="F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395935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08000"/>
                </a:solidFill>
              </a:rPr>
              <a:t>Major opportunity to reduce complexity and speed up publishing.
(Internal observation)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3913632"/>
            <a:ext cx="3840480" cy="841248"/>
          </a:xfrm>
          <a:prstGeom prst="rect">
            <a:avLst/>
          </a:prstGeom>
          <a:solidFill>
            <a:srgbClr val="FFF8D0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395935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06000"/>
                </a:solidFill>
              </a:rPr>
              <a:t>Lower traffic hubs:
Shopping 3.1% | Rights 5.4% | Mobility 5.5%
(Hub Online Sessions)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846320"/>
            <a:ext cx="5669280" cy="17373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919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AI SHOULD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23036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• First drafts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Translation &amp; SEO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Workflow acceleration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16752" y="4846320"/>
            <a:ext cx="5943600" cy="17373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491947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HUMAN EXPERTISE REMAINS ESSENTIAL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523036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• Legal interpretation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Validation &amp; credibility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Consumer advocacy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0" y="6537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E8003D"/>
                </a:solidFill>
              </a:rPr>
              <a:t>testachats</a:t>
            </a:r>
          </a:p>
          <a:p>
            <a:r>
              <a:rPr sz="700" b="1" i="0">
                <a:solidFill>
                  <a:srgbClr val="1A1A1A"/>
                </a:solidFill>
              </a:rPr>
              <a:t>testaankoop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9456" y="173736"/>
            <a:ext cx="475488" cy="475488"/>
          </a:xfrm>
          <a:prstGeom prst="ellipse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</a:rPr>
              <a:t>OPERATIONAL CONSEQUENCES</a:t>
            </a:r>
          </a:p>
          <a:p>
            <a:pPr algn="l"/>
            <a:r>
              <a:rPr sz="2000" b="1" i="0">
                <a:solidFill>
                  <a:srgbClr val="E8003D"/>
                </a:solidFill>
              </a:rPr>
              <a:t>&amp; FUTURE ORGANISATION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87552"/>
            <a:ext cx="731520" cy="36576"/>
          </a:xfrm>
          <a:prstGeom prst="rect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From publication silos to integrated consumer hubs.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99032"/>
            <a:ext cx="5577840" cy="3474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7830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77777"/>
                </a:solidFill>
              </a:rPr>
              <a:t>Publication-centric &amp; fragmented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103120"/>
            <a:ext cx="731520" cy="731520"/>
          </a:xfrm>
          <a:prstGeom prst="ellipse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TA</a:t>
            </a:r>
          </a:p>
        </p:txBody>
      </p:sp>
      <p:sp>
        <p:nvSpPr>
          <p:cNvPr id="10" name="Oval 9"/>
          <p:cNvSpPr/>
          <p:nvPr/>
        </p:nvSpPr>
        <p:spPr>
          <a:xfrm>
            <a:off x="1691640" y="2103120"/>
            <a:ext cx="731520" cy="731520"/>
          </a:xfrm>
          <a:prstGeom prst="ellipse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BD</a:t>
            </a:r>
          </a:p>
        </p:txBody>
      </p:sp>
      <p:sp>
        <p:nvSpPr>
          <p:cNvPr id="11" name="Oval 10"/>
          <p:cNvSpPr/>
          <p:nvPr/>
        </p:nvSpPr>
        <p:spPr>
          <a:xfrm>
            <a:off x="2834640" y="2103120"/>
            <a:ext cx="731520" cy="731520"/>
          </a:xfrm>
          <a:prstGeom prst="ellipse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TS</a:t>
            </a:r>
          </a:p>
        </p:txBody>
      </p:sp>
      <p:sp>
        <p:nvSpPr>
          <p:cNvPr id="12" name="Oval 11"/>
          <p:cNvSpPr/>
          <p:nvPr/>
        </p:nvSpPr>
        <p:spPr>
          <a:xfrm>
            <a:off x="3977639" y="2103120"/>
            <a:ext cx="731520" cy="731520"/>
          </a:xfrm>
          <a:prstGeom prst="ellipse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971800"/>
            <a:ext cx="3017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Central editorial bottlenecks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77777"/>
                </a:solidFill>
              </a:rPr>
              <a:t>Web / Print separation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77777"/>
                </a:solidFill>
              </a:rPr>
              <a:t>Multiple handovers &amp; duplicate 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399032"/>
            <a:ext cx="5577840" cy="347472"/>
          </a:xfrm>
          <a:prstGeom prst="rect">
            <a:avLst/>
          </a:prstGeom>
          <a:solidFill>
            <a:srgbClr val="F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FUTURE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77777"/>
                </a:solidFill>
              </a:rPr>
              <a:t>Integrated consumer hubs</a:t>
            </a:r>
          </a:p>
        </p:txBody>
      </p:sp>
      <p:sp>
        <p:nvSpPr>
          <p:cNvPr id="19" name="Oval 18"/>
          <p:cNvSpPr/>
          <p:nvPr/>
        </p:nvSpPr>
        <p:spPr>
          <a:xfrm>
            <a:off x="8503920" y="2286000"/>
            <a:ext cx="1645920" cy="164592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CONSUMER
NEEDS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1920240"/>
            <a:ext cx="1188720" cy="914400"/>
          </a:xfrm>
          <a:prstGeom prst="ellipse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Personal
Finance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3200400"/>
            <a:ext cx="1188720" cy="914400"/>
          </a:xfrm>
          <a:prstGeom prst="ellipse">
            <a:avLst/>
          </a:prstGeom>
          <a:solidFill>
            <a:srgbClr val="F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High Tech
&amp; Mobility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0" y="2011680"/>
            <a:ext cx="1188720" cy="914400"/>
          </a:xfrm>
          <a:prstGeom prst="ellipse">
            <a:avLst/>
          </a:prstGeom>
          <a:solidFill>
            <a:srgbClr val="F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Rights &amp;
Protection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0" y="3291840"/>
            <a:ext cx="1188720" cy="914400"/>
          </a:xfrm>
          <a:prstGeom prst="ellipse">
            <a:avLst/>
          </a:prstGeom>
          <a:solidFill>
            <a:srgbClr val="F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Health &amp;
Nutrition</a:t>
            </a:r>
          </a:p>
        </p:txBody>
      </p:sp>
      <p:sp>
        <p:nvSpPr>
          <p:cNvPr id="24" name="Oval 23"/>
          <p:cNvSpPr/>
          <p:nvPr/>
        </p:nvSpPr>
        <p:spPr>
          <a:xfrm>
            <a:off x="8321040" y="3977639"/>
            <a:ext cx="1188720" cy="914400"/>
          </a:xfrm>
          <a:prstGeom prst="ellipse">
            <a:avLst/>
          </a:prstGeom>
          <a:solidFill>
            <a:srgbClr val="F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Housing &amp;
Energy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5074920"/>
            <a:ext cx="1828800" cy="4754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Expertise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85416" y="5074920"/>
            <a:ext cx="1828800" cy="4754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Editorial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42232" y="5074920"/>
            <a:ext cx="1828800" cy="4754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SEO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9048" y="5074920"/>
            <a:ext cx="1828800" cy="4754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AI Support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55864" y="5074920"/>
            <a:ext cx="1828800" cy="4754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Data &amp; Insights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5074920"/>
            <a:ext cx="1828800" cy="4754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Digital Distribution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5650992"/>
            <a:ext cx="11750040" cy="475488"/>
          </a:xfrm>
          <a:prstGeom prst="rect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6875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  Faster collaboration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6875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  Less duplication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6875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  More scalability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56875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✓  Stronger consumer focus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95760" y="6537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E8003D"/>
                </a:solidFill>
              </a:rPr>
              <a:t>testachats</a:t>
            </a:r>
          </a:p>
          <a:p>
            <a:r>
              <a:rPr sz="700" b="1" i="0">
                <a:solidFill>
                  <a:srgbClr val="1A1A1A"/>
                </a:solidFill>
              </a:rPr>
              <a:t>testaankoop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9456" y="173736"/>
            <a:ext cx="475488" cy="475488"/>
          </a:xfrm>
          <a:prstGeom prst="ellipse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"/>
            <a:ext cx="9144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8000"/>
                </a:solidFill>
              </a:rPr>
              <a:t>WHERE IS EFFICIENCY</a:t>
            </a:r>
          </a:p>
          <a:p>
            <a:pPr algn="l"/>
            <a:r>
              <a:rPr sz="2000" b="1" i="0">
                <a:solidFill>
                  <a:srgbClr val="E8003D"/>
                </a:solidFill>
              </a:rPr>
              <a:t>BEING LOST TODAY?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87552"/>
            <a:ext cx="731520" cy="36576"/>
          </a:xfrm>
          <a:prstGeom prst="rect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1280160"/>
            <a:ext cx="594360" cy="5943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8000"/>
                </a:solidFill>
              </a:rPr>
              <a:t>REPETITIVE CONSUMER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High volume of Tier-1 questions handled manually (e.g., account, membership, basic info).</a:t>
            </a:r>
          </a:p>
        </p:txBody>
      </p:sp>
      <p:sp>
        <p:nvSpPr>
          <p:cNvPr id="9" name="Oval 8"/>
          <p:cNvSpPr/>
          <p:nvPr/>
        </p:nvSpPr>
        <p:spPr>
          <a:xfrm>
            <a:off x="228600" y="2240280"/>
            <a:ext cx="594360" cy="5943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8000"/>
                </a:solidFill>
              </a:rPr>
              <a:t>COMPLEX PRODUCTION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42032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Multiple handovers between experts, editorial, SEO, translation and design slow down publishing.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3200400"/>
            <a:ext cx="594360" cy="5943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8000"/>
                </a:solidFill>
              </a:rPr>
              <a:t>FR/NL DUPLICATION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02152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Full human translation and adaptation for many content pieces.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4160520"/>
            <a:ext cx="594360" cy="5943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6052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8000"/>
                </a:solidFill>
              </a:rPr>
              <a:t>DUPLICATE DATA &amp;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62272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Siloed data and dashboards lead to duplication and inconsistent insights.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5120640"/>
            <a:ext cx="594360" cy="59436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2064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8000"/>
                </a:solidFill>
              </a:rPr>
              <a:t>LOW-VALUE CONTENT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422392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Resources spent on low-impact topics with limited consumer interest.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143000"/>
            <a:ext cx="4206240" cy="5303520"/>
          </a:xfrm>
          <a:prstGeom prst="rect">
            <a:avLst/>
          </a:prstGeom>
          <a:solidFill>
            <a:srgbClr val="FF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126187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003D"/>
                </a:solidFill>
              </a:rPr>
              <a:t>OPPORTUNITY</a:t>
            </a:r>
          </a:p>
        </p:txBody>
      </p:sp>
      <p:sp>
        <p:nvSpPr>
          <p:cNvPr id="23" name="Oval 22"/>
          <p:cNvSpPr/>
          <p:nvPr/>
        </p:nvSpPr>
        <p:spPr>
          <a:xfrm>
            <a:off x="8732520" y="1874519"/>
            <a:ext cx="2286000" cy="2286000"/>
          </a:xfrm>
          <a:prstGeom prst="ellipse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000" b="0" i="0">
                <a:solidFill>
                  <a:srgbClr val="FFFFFF"/>
                </a:solidFill>
              </a:rPr>
              <a:t>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29768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003D"/>
                </a:solidFill>
              </a:rPr>
              <a:t>Reduce friction,
remove duplication
and free up expertise
for higher-value 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0" y="6537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E8003D"/>
                </a:solidFill>
              </a:rPr>
              <a:t>testachats</a:t>
            </a:r>
          </a:p>
          <a:p>
            <a:r>
              <a:rPr sz="700" b="1" i="0">
                <a:solidFill>
                  <a:srgbClr val="1A1A1A"/>
                </a:solidFill>
              </a:rPr>
              <a:t>testaankoop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9456" y="100583"/>
            <a:ext cx="475488" cy="475488"/>
          </a:xfrm>
          <a:prstGeom prst="ellipse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</a:rPr>
              <a:t>WOW – OPPORTUNITIES FOR THE NEXT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76072"/>
            <a:ext cx="731520" cy="36576"/>
          </a:xfrm>
          <a:prstGeom prst="rect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Build on our strengths to create even more impact for consumers.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3840480" cy="530352"/>
          </a:xfrm>
          <a:prstGeom prst="rect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1. TRUSTED CONSUMER
PROTECTION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024128"/>
            <a:ext cx="3840480" cy="530352"/>
          </a:xfrm>
          <a:prstGeom prst="rect">
            <a:avLst/>
          </a:prstGeom>
          <a:solidFill>
            <a:srgbClr val="F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2. AI-ENABLED DECISION
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024128"/>
            <a:ext cx="3840480" cy="5303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3. LIFE MOMENT SUPPORT</a:t>
            </a:r>
          </a:p>
        </p:txBody>
      </p:sp>
      <p:sp>
        <p:nvSpPr>
          <p:cNvPr id="10" name="Oval 9"/>
          <p:cNvSpPr/>
          <p:nvPr/>
        </p:nvSpPr>
        <p:spPr>
          <a:xfrm>
            <a:off x="1828800" y="1627632"/>
            <a:ext cx="640080" cy="640080"/>
          </a:xfrm>
          <a:prstGeom prst="ellipse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0" y="1627632"/>
            <a:ext cx="640080" cy="640080"/>
          </a:xfrm>
          <a:prstGeom prst="ellipse">
            <a:avLst/>
          </a:prstGeom>
          <a:solidFill>
            <a:srgbClr val="F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0" y="1627632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377440"/>
            <a:ext cx="3703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• Scams &amp; fraud protection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Privacy &amp; data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Dispute support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Contract optimisation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Stronger legal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77440"/>
            <a:ext cx="3703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• Smart comparators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Personalised recommendations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AI consumer assistant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Savings optimisation tools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Proactive alerts &amp;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77440"/>
            <a:ext cx="3703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• Buying a home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Retirement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Investing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Energy transition</a:t>
            </a:r>
          </a:p>
          <a:p>
            <a:pPr algn="l"/>
            <a:r>
              <a:rPr sz="850" b="0" i="0">
                <a:solidFill>
                  <a:srgbClr val="1A1A1A"/>
                </a:solidFill>
              </a:rPr>
              <a:t>• Major life decisions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950208"/>
            <a:ext cx="3840480" cy="868680"/>
          </a:xfrm>
          <a:prstGeom prst="rect">
            <a:avLst/>
          </a:prstGeom>
          <a:solidFill>
            <a:srgbClr val="FFE0EC"/>
          </a:solidFill>
          <a:ln w="6350">
            <a:solidFill>
              <a:srgbClr val="E80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3995928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E8003D"/>
                </a:solidFill>
              </a:rPr>
              <a:t>Consumers expect more presence in Privacy/Data, Legal rights and Financial matters.
(Brand Tracker Q4 2024)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950208"/>
            <a:ext cx="3840480" cy="868680"/>
          </a:xfrm>
          <a:prstGeom prst="rect">
            <a:avLst/>
          </a:prstGeom>
          <a:solidFill>
            <a:srgbClr val="FFF0D8"/>
          </a:solidFill>
          <a:ln w="6350">
            <a:solidFill>
              <a:srgbClr val="F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688" y="3995928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08000"/>
                </a:solidFill>
              </a:rPr>
              <a:t>Leverage our expertise and data to deliver personalised, real-time consumer guidance.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3950208"/>
            <a:ext cx="3840480" cy="868680"/>
          </a:xfrm>
          <a:prstGeom prst="rect">
            <a:avLst/>
          </a:prstGeom>
          <a:solidFill>
            <a:srgbClr val="FFF8D0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3995928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06000"/>
                </a:solidFill>
              </a:rPr>
              <a:t>Millennials show strong relevance for life moments and financial guidance.
(Brand Tracker Q4 2024)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956048"/>
            <a:ext cx="11750040" cy="658368"/>
          </a:xfrm>
          <a:prstGeom prst="rect">
            <a:avLst/>
          </a:prstGeom>
          <a:solidFill>
            <a:srgbClr val="E8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20040" y="5010912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029200"/>
            <a:ext cx="10698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Information built our reputation.   Helping consumers make better decisions should define our future.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0" y="6537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64922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 i="0">
                <a:solidFill>
                  <a:srgbClr val="E8003D"/>
                </a:solidFill>
              </a:rPr>
              <a:t>testachats</a:t>
            </a:r>
          </a:p>
          <a:p>
            <a:r>
              <a:rPr sz="700" b="1" i="0">
                <a:solidFill>
                  <a:srgbClr val="1A1A1A"/>
                </a:solidFill>
              </a:rPr>
              <a:t>testaankoop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